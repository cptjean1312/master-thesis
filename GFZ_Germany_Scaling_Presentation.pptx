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INKAR-based vulnerability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Germany scaling check for the GFZ meeting</a:t>
            </a:r>
          </a:p>
          <a:p>
            <a:pPr lvl="0"/>
            <a:r>
              <a:rPr/>
              <a:t>March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What does the thesis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Study area: German part of the Elbe river basin</a:t>
            </a:r>
          </a:p>
          <a:p>
            <a:pPr lvl="0"/>
            <a:r>
              <a:rPr/>
              <a:t>Core goal: analyse the social distribution of flood exposure and socio-economic vulnerability</a:t>
            </a:r>
          </a:p>
          <a:p>
            <a:pPr lvl="0"/>
            <a:r>
              <a:rPr/>
              <a:t>Justice angle: are more vulnerable municipalities also more exposed to flood hazards?</a:t>
            </a:r>
          </a:p>
          <a:p>
            <a:pPr lvl="0"/>
            <a:r>
              <a:rPr/>
              <a:t>Data logic:</a:t>
            </a:r>
          </a:p>
          <a:p>
            <a:pPr lvl="1"/>
            <a:r>
              <a:rPr/>
              <a:t>flood exposure from BfG HQ100-based processing</a:t>
            </a:r>
          </a:p>
          <a:p>
            <a:pPr lvl="1"/>
            <a:r>
              <a:rPr/>
              <a:t>socio-economic vulnerability from municipality-level INKAR indicators</a:t>
            </a:r>
          </a:p>
          <a:p>
            <a:pPr lvl="1"/>
            <a:r>
              <a:rPr/>
              <a:t>protection context currently informed by EU flood-protection data</a:t>
            </a:r>
          </a:p>
          <a:p>
            <a:pPr lvl="0"/>
            <a:r>
              <a:rPr/>
              <a:t>Current task for the meeting:</a:t>
            </a:r>
          </a:p>
          <a:p>
            <a:pPr lvl="1"/>
            <a:r>
              <a:rPr/>
              <a:t>assess whether the INKAR-based vulnerability component can be scaled up to Germany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Why INKAR matters for national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INKAR 2025 is not Elbe-specific from the start</a:t>
            </a:r>
          </a:p>
          <a:p>
            <a:pPr lvl="0"/>
            <a:r>
              <a:rPr/>
              <a:t>Raw dataset structure:</a:t>
            </a:r>
          </a:p>
          <a:p>
            <a:pPr lvl="1"/>
            <a:r>
              <a:rPr/>
              <a:t>long-format CSV</a:t>
            </a:r>
          </a:p>
          <a:p>
            <a:pPr lvl="1"/>
            <a:r>
              <a:rPr/>
              <a:t>63,426,864 rows</a:t>
            </a:r>
          </a:p>
          <a:p>
            <a:pPr lvl="1"/>
            <a:r>
              <a:rPr/>
              <a:t>45 spatial-reference categories</a:t>
            </a:r>
          </a:p>
          <a:p>
            <a:pPr lvl="1"/>
            <a:r>
              <a:rPr/>
              <a:t>top-level areas: EU, LRB, SDG, ZOM</a:t>
            </a:r>
          </a:p>
          <a:p>
            <a:pPr lvl="0"/>
            <a:r>
              <a:rPr/>
              <a:t>Germany-wide municipal subset used for the check:</a:t>
            </a:r>
          </a:p>
          <a:p>
            <a:pPr lvl="1"/>
            <a:r>
              <a:rPr>
                <a:latin typeface="Courier"/>
              </a:rPr>
              <a:t>Bereich = LRB</a:t>
            </a:r>
          </a:p>
          <a:p>
            <a:pPr lvl="1"/>
            <a:r>
              <a:rPr>
                <a:latin typeface="Courier"/>
              </a:rPr>
              <a:t>Raumbezug = Gemeinden</a:t>
            </a:r>
          </a:p>
          <a:p>
            <a:pPr lvl="1"/>
            <a:r>
              <a:rPr/>
              <a:t>10,978 municipalities</a:t>
            </a:r>
          </a:p>
          <a:p>
            <a:pPr lvl="1"/>
            <a:r>
              <a:rPr/>
              <a:t>176 municipality-level indicators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Germany-wide availability on AGS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Municipality-level indicators in total: </a:t>
            </a:r>
            <a:r>
              <a:rPr>
                <a:latin typeface="Courier"/>
              </a:rPr>
              <a:t>176</a:t>
            </a:r>
          </a:p>
          <a:p>
            <a:pPr lvl="0"/>
            <a:r>
              <a:rPr/>
              <a:t>Present in all 16 federal states: </a:t>
            </a:r>
            <a:r>
              <a:rPr>
                <a:latin typeface="Courier"/>
              </a:rPr>
              <a:t>173</a:t>
            </a:r>
          </a:p>
          <a:p>
            <a:pPr lvl="0"/>
            <a:r>
              <a:rPr/>
              <a:t>Fully complete on AGS level in all 16 federal states: </a:t>
            </a:r>
            <a:r>
              <a:rPr>
                <a:latin typeface="Courier"/>
              </a:rPr>
              <a:t>32</a:t>
            </a:r>
          </a:p>
          <a:p>
            <a:pPr lvl="0"/>
            <a:r>
              <a:rPr/>
              <a:t>Not present in all 16 states: </a:t>
            </a:r>
            <a:r>
              <a:rPr>
                <a:latin typeface="Courier"/>
              </a:rPr>
              <a:t>3</a:t>
            </a:r>
          </a:p>
          <a:p>
            <a:pPr lvl="1"/>
            <a:r>
              <a:rPr>
                <a:latin typeface="Courier"/>
              </a:rPr>
              <a:t>q_sach</a:t>
            </a:r>
          </a:p>
          <a:p>
            <a:pPr lvl="1"/>
            <a:r>
              <a:rPr>
                <a:latin typeface="Courier"/>
              </a:rPr>
              <a:t>q_schluesselzuw</a:t>
            </a:r>
          </a:p>
          <a:p>
            <a:pPr lvl="1"/>
            <a:r>
              <a:rPr>
                <a:latin typeface="Courier"/>
              </a:rPr>
              <a:t>q_investZ</a:t>
            </a:r>
          </a:p>
          <a:p>
            <a:pPr lvl="0" indent="0" marL="0">
              <a:buNone/>
            </a:pPr>
            <a:r>
              <a:rPr/>
              <a:t>These correspond to:</a:t>
            </a:r>
          </a:p>
          <a:p>
            <a:pPr lvl="0"/>
            <a:r>
              <a:rPr/>
              <a:t>capital-investment expenditure</a:t>
            </a:r>
          </a:p>
          <a:p>
            <a:pPr lvl="0"/>
            <a:r>
              <a:rPr/>
              <a:t>key allocations</a:t>
            </a:r>
          </a:p>
          <a:p>
            <a:pPr lvl="0"/>
            <a:r>
              <a:rPr/>
              <a:t>grants for investment support measures</a:t>
            </a:r>
          </a:p>
          <a:p>
            <a:pPr lvl="0" indent="0" marL="0">
              <a:buNone/>
            </a:pPr>
            <a:r>
              <a:rPr/>
              <a:t>Main message:</a:t>
            </a:r>
          </a:p>
          <a:p>
            <a:pPr lvl="0"/>
            <a:r>
              <a:rPr/>
              <a:t>the socio-economic part is broadly available nationwide</a:t>
            </a:r>
          </a:p>
          <a:p>
            <a:pPr lvl="0"/>
            <a:r>
              <a:rPr/>
              <a:t>but absolute municipality completeness is much stricter than state-level presence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Why strict full coverage alone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I only keep variables with full AGS-level completeness, the pool becomes too narrow and too structural.</a:t>
            </a:r>
          </a:p>
          <a:p>
            <a:pPr lvl="0" indent="0" marL="0">
              <a:buNone/>
            </a:pPr>
            <a:r>
              <a:rPr/>
              <a:t>What remains is mostly:</a:t>
            </a:r>
          </a:p>
          <a:p>
            <a:pPr lvl="0"/>
            <a:r>
              <a:rPr/>
              <a:t>minijob structure</a:t>
            </a:r>
          </a:p>
          <a:p>
            <a:pPr lvl="0"/>
            <a:r>
              <a:rPr/>
              <a:t>broadband availability</a:t>
            </a:r>
          </a:p>
          <a:p>
            <a:pPr lvl="0"/>
            <a:r>
              <a:rPr/>
              <a:t>accessibility to central places</a:t>
            </a:r>
          </a:p>
          <a:p>
            <a:pPr lvl="0"/>
            <a:r>
              <a:rPr/>
              <a:t>density and structural counts</a:t>
            </a:r>
          </a:p>
          <a:p>
            <a:pPr lvl="0"/>
            <a:r>
              <a:rPr/>
              <a:t>land-use context</a:t>
            </a:r>
          </a:p>
          <a:p>
            <a:pPr lvl="0" indent="0" marL="0">
              <a:buNone/>
            </a:pPr>
            <a:r>
              <a:rPr/>
              <a:t>What largely drops out:</a:t>
            </a:r>
          </a:p>
          <a:p>
            <a:pPr lvl="0"/>
            <a:r>
              <a:rPr/>
              <a:t>social transfers</a:t>
            </a:r>
          </a:p>
          <a:p>
            <a:pPr lvl="0"/>
            <a:r>
              <a:rPr/>
              <a:t>low income</a:t>
            </a:r>
          </a:p>
          <a:p>
            <a:pPr lvl="0"/>
            <a:r>
              <a:rPr/>
              <a:t>long-term unemployment</a:t>
            </a:r>
          </a:p>
          <a:p>
            <a:pPr lvl="0"/>
            <a:r>
              <a:rPr/>
              <a:t>ageing and dependency</a:t>
            </a:r>
          </a:p>
          <a:p>
            <a:pPr lvl="0"/>
            <a:r>
              <a:rPr/>
              <a:t>single-person households</a:t>
            </a:r>
          </a:p>
          <a:p>
            <a:pPr lvl="0"/>
            <a:r>
              <a:rPr/>
              <a:t>everyday health-access indicators</a:t>
            </a:r>
          </a:p>
          <a:p>
            <a:pPr lvl="0" indent="0" marL="0">
              <a:buNone/>
            </a:pPr>
            <a:r>
              <a:rPr/>
              <a:t>Conclusion:</a:t>
            </a:r>
          </a:p>
          <a:p>
            <a:pPr lvl="0"/>
            <a:r>
              <a:rPr>
                <a:latin typeface="Courier"/>
              </a:rPr>
              <a:t>strict full coverage only</a:t>
            </a:r>
            <a:r>
              <a:rPr/>
              <a:t> is clean in data terms</a:t>
            </a:r>
          </a:p>
          <a:p>
            <a:pPr lvl="0"/>
            <a:r>
              <a:rPr/>
              <a:t>but weak in substantive vulnerability terms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Proposed nationwide shortlist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current compromise: variables that</a:t>
            </a:r>
          </a:p>
          <a:p>
            <a:pPr lvl="0"/>
            <a:r>
              <a:rPr/>
              <a:t>are present in all 16 federal states</a:t>
            </a:r>
          </a:p>
          <a:p>
            <a:pPr lvl="0"/>
            <a:r>
              <a:rPr/>
              <a:t>have very high AGS-level availability</a:t>
            </a:r>
          </a:p>
          <a:p>
            <a:pPr lvl="0"/>
            <a:r>
              <a:rPr/>
              <a:t>still represent meaningful vulnerability dimensions</a:t>
            </a:r>
          </a:p>
          <a:p>
            <a:pPr lvl="0" indent="0" marL="0">
              <a:buNone/>
            </a:pPr>
            <a:r>
              <a:rPr/>
              <a:t>Core shortlist:</a:t>
            </a:r>
          </a:p>
          <a:p>
            <a:pPr lvl="0"/>
            <a:r>
              <a:rPr/>
              <a:t>Deprivation:</a:t>
            </a:r>
          </a:p>
          <a:p>
            <a:pPr lvl="1"/>
            <a:r>
              <a:rPr>
                <a:latin typeface="Courier"/>
              </a:rPr>
              <a:t>a_ALGII_SGBII</a:t>
            </a:r>
          </a:p>
          <a:p>
            <a:pPr lvl="1"/>
            <a:r>
              <a:rPr>
                <a:latin typeface="Courier"/>
              </a:rPr>
              <a:t>a_Unterkunft_SGBII</a:t>
            </a:r>
          </a:p>
          <a:p>
            <a:pPr lvl="1"/>
            <a:r>
              <a:rPr>
                <a:latin typeface="Courier"/>
              </a:rPr>
              <a:t>a_aloLang</a:t>
            </a:r>
          </a:p>
          <a:p>
            <a:pPr lvl="1"/>
            <a:r>
              <a:rPr>
                <a:latin typeface="Courier"/>
              </a:rPr>
              <a:t>q_alo_u25_einw</a:t>
            </a:r>
          </a:p>
          <a:p>
            <a:pPr lvl="1"/>
            <a:r>
              <a:rPr>
                <a:latin typeface="Courier"/>
              </a:rPr>
              <a:t>q_kaufkraft</a:t>
            </a:r>
          </a:p>
          <a:p>
            <a:pPr lvl="1"/>
            <a:r>
              <a:rPr>
                <a:latin typeface="Courier"/>
              </a:rPr>
              <a:t>a_hheink_niedrig</a:t>
            </a:r>
          </a:p>
          <a:p>
            <a:pPr lvl="0"/>
            <a:r>
              <a:rPr/>
              <a:t>Demographic sensitivity:</a:t>
            </a:r>
          </a:p>
          <a:p>
            <a:pPr lvl="1"/>
            <a:r>
              <a:rPr>
                <a:latin typeface="Courier"/>
              </a:rPr>
              <a:t>a_bev65um</a:t>
            </a:r>
          </a:p>
          <a:p>
            <a:pPr lvl="1"/>
            <a:r>
              <a:rPr>
                <a:latin typeface="Courier"/>
              </a:rPr>
              <a:t>a_bev75um</a:t>
            </a:r>
          </a:p>
          <a:p>
            <a:pPr lvl="1"/>
            <a:r>
              <a:rPr>
                <a:latin typeface="Courier"/>
              </a:rPr>
              <a:t>q_abhg_alt</a:t>
            </a:r>
          </a:p>
          <a:p>
            <a:pPr lvl="0"/>
            <a:r>
              <a:rPr/>
              <a:t>Household structure:</a:t>
            </a:r>
          </a:p>
          <a:p>
            <a:pPr lvl="1"/>
            <a:r>
              <a:rPr>
                <a:latin typeface="Courier"/>
              </a:rPr>
              <a:t>q_HH1</a:t>
            </a:r>
          </a:p>
          <a:p>
            <a:pPr lvl="0"/>
            <a:r>
              <a:rPr/>
              <a:t>Accessibility:</a:t>
            </a:r>
          </a:p>
          <a:p>
            <a:pPr lvl="1"/>
            <a:r>
              <a:rPr>
                <a:latin typeface="Courier"/>
              </a:rPr>
              <a:t>m_OEV20_DIST</a:t>
            </a:r>
          </a:p>
          <a:p>
            <a:pPr lvl="1"/>
            <a:r>
              <a:rPr>
                <a:latin typeface="Courier"/>
              </a:rPr>
              <a:t>m_Q07_HA_DIST</a:t>
            </a:r>
          </a:p>
          <a:p>
            <a:pPr lvl="1"/>
            <a:r>
              <a:rPr>
                <a:latin typeface="Courier"/>
              </a:rPr>
              <a:t>m_Q01_APO_DIST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AGS coverage of the proposed shortlist</a:t>
            </a:r>
          </a:p>
        </p:txBody>
      </p:sp>
      <p:pic>
        <p:nvPicPr>
          <p:cNvPr descr="/Users/maxi_161/Desktop/UNI/Master/THESIS/Master-Thesis/outputs_inkar_overview/map_germany_shortlist_cover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87700" y="1193800"/>
            <a:ext cx="2768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Coverage rates of the shortlist variables</a:t>
            </a:r>
          </a:p>
        </p:txBody>
      </p:sp>
      <p:pic>
        <p:nvPicPr>
          <p:cNvPr descr="/Users/maxi_161/Desktop/UNI/Master/THESIS/Master-Thesis/outputs_inkar_overview/plot_nationwide_shortlist_coverage_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19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First wide PCA: why I started there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version in </a:t>
            </a:r>
            <a:r>
              <a:rPr>
                <a:latin typeface="Courier"/>
              </a:rPr>
              <a:t>Analyse_CLEAN.R</a:t>
            </a:r>
            <a:r>
              <a:rPr/>
              <a:t>:</a:t>
            </a:r>
          </a:p>
          <a:p>
            <a:pPr lvl="0"/>
            <a:r>
              <a:rPr/>
              <a:t>one global PCA across 52 variables</a:t>
            </a:r>
          </a:p>
          <a:p>
            <a:pPr lvl="0"/>
            <a:r>
              <a:rPr/>
              <a:t>intentionally exploratory</a:t>
            </a:r>
          </a:p>
          <a:p>
            <a:pPr lvl="0"/>
            <a:r>
              <a:rPr/>
              <a:t>broad indicator pool:</a:t>
            </a:r>
          </a:p>
          <a:p>
            <a:pPr lvl="1"/>
            <a:r>
              <a:rPr/>
              <a:t>deprivation</a:t>
            </a:r>
          </a:p>
          <a:p>
            <a:pPr lvl="1"/>
            <a:r>
              <a:rPr/>
              <a:t>labour market</a:t>
            </a:r>
          </a:p>
          <a:p>
            <a:pPr lvl="1"/>
            <a:r>
              <a:rPr/>
              <a:t>age structure</a:t>
            </a:r>
          </a:p>
          <a:p>
            <a:pPr lvl="1"/>
            <a:r>
              <a:rPr/>
              <a:t>household structure</a:t>
            </a:r>
          </a:p>
          <a:p>
            <a:pPr lvl="1"/>
            <a:r>
              <a:rPr/>
              <a:t>education</a:t>
            </a:r>
          </a:p>
          <a:p>
            <a:pPr lvl="1"/>
            <a:r>
              <a:rPr/>
              <a:t>health provision</a:t>
            </a:r>
          </a:p>
          <a:p>
            <a:pPr lvl="1"/>
            <a:r>
              <a:rPr/>
              <a:t>digital access</a:t>
            </a:r>
          </a:p>
          <a:p>
            <a:pPr lvl="1"/>
            <a:r>
              <a:rPr/>
              <a:t>service distances</a:t>
            </a:r>
          </a:p>
          <a:p>
            <a:pPr lvl="1"/>
            <a:r>
              <a:rPr/>
              <a:t>density and structural indicators</a:t>
            </a:r>
          </a:p>
          <a:p>
            <a:pPr lvl="0"/>
            <a:r>
              <a:rPr/>
              <a:t>first 8 PCs retained for the main index</a:t>
            </a:r>
          </a:p>
          <a:p>
            <a:pPr lvl="0"/>
            <a:r>
              <a:rPr/>
              <a:t>variance-weighted aggregation</a:t>
            </a:r>
          </a:p>
          <a:p>
            <a:pPr lvl="0"/>
            <a:r>
              <a:rPr/>
              <a:t>sign anchored to </a:t>
            </a:r>
            <a:r>
              <a:rPr>
                <a:latin typeface="Courier"/>
              </a:rPr>
              <a:t>ALG II / SGB II</a:t>
            </a:r>
          </a:p>
          <a:p>
            <a:pPr lvl="0" indent="0" marL="0">
              <a:buNone/>
            </a:pPr>
            <a:r>
              <a:rPr/>
              <a:t>Why that was useful:</a:t>
            </a:r>
          </a:p>
          <a:p>
            <a:pPr lvl="0"/>
            <a:r>
              <a:rPr/>
              <a:t>good first scan of the municipality-level socio-economic space</a:t>
            </a:r>
          </a:p>
          <a:p>
            <a:pPr lvl="0"/>
            <a:r>
              <a:rPr/>
              <a:t>good for identifying redundancy and latent structure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What changed in the redesign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Redesign in </a:t>
            </a:r>
            <a:r>
              <a:rPr>
                <a:latin typeface="Courier"/>
              </a:rPr>
              <a:t>Analyse_PROTOCOL_REDESIGN.R</a:t>
            </a:r>
            <a:r>
              <a:rPr/>
              <a:t>:</a:t>
            </a:r>
          </a:p>
          <a:p>
            <a:pPr lvl="0"/>
            <a:r>
              <a:rPr/>
              <a:t>narrower and theory-led indicator set</a:t>
            </a:r>
          </a:p>
          <a:p>
            <a:pPr lvl="0"/>
            <a:r>
              <a:rPr/>
              <a:t>PCA kept, but applied more selectively</a:t>
            </a:r>
          </a:p>
          <a:p>
            <a:pPr lvl="0"/>
            <a:r>
              <a:rPr/>
              <a:t>indicators grouped into domains before reduction</a:t>
            </a:r>
          </a:p>
          <a:p>
            <a:pPr lvl="0"/>
            <a:r>
              <a:rPr/>
              <a:t>PC1 used within each domain</a:t>
            </a:r>
          </a:p>
          <a:p>
            <a:pPr lvl="0"/>
            <a:r>
              <a:rPr/>
              <a:t>domains combined into the redesigned main index</a:t>
            </a:r>
          </a:p>
          <a:p>
            <a:pPr lvl="0"/>
            <a:r>
              <a:rPr/>
              <a:t>additional reduced-set PCA kept only as sensitivity check</a:t>
            </a:r>
          </a:p>
          <a:p>
            <a:pPr lvl="0" indent="0" marL="0">
              <a:buNone/>
            </a:pPr>
            <a:r>
              <a:rPr/>
              <a:t>Redesigned main domains:</a:t>
            </a:r>
          </a:p>
          <a:p>
            <a:pPr lvl="0"/>
            <a:r>
              <a:rPr/>
              <a:t>deprivation</a:t>
            </a:r>
          </a:p>
          <a:p>
            <a:pPr lvl="0"/>
            <a:r>
              <a:rPr/>
              <a:t>demographic sensitivity</a:t>
            </a:r>
          </a:p>
          <a:p>
            <a:pPr lvl="0"/>
            <a:r>
              <a:rPr/>
              <a:t>household / social structure</a:t>
            </a:r>
          </a:p>
          <a:p>
            <a:pPr lvl="0"/>
            <a:r>
              <a:rPr/>
              <a:t>accessibility / adaptive capacity</a:t>
            </a:r>
          </a:p>
          <a:p>
            <a:pPr lvl="0" indent="0" marL="0">
              <a:buNone/>
            </a:pPr>
            <a:r>
              <a:rPr/>
              <a:t>Why this is better for the thesis:</a:t>
            </a:r>
          </a:p>
          <a:p>
            <a:pPr lvl="0"/>
            <a:r>
              <a:rPr/>
              <a:t>more interpretable</a:t>
            </a:r>
          </a:p>
          <a:p>
            <a:pPr lvl="0"/>
            <a:r>
              <a:rPr/>
              <a:t>less driven by structural overlap</a:t>
            </a:r>
          </a:p>
          <a:p>
            <a:pPr lvl="0"/>
            <a:r>
              <a:rPr/>
              <a:t>easier to defend conceptually in a supervisor meeting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Bottom line for the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current position:</a:t>
            </a:r>
          </a:p>
          <a:p>
            <a:pPr lvl="0"/>
            <a:r>
              <a:rPr/>
              <a:t>yes, an INKAR-based socio-economic vulnerability component can in principle be scaled up to Germany</a:t>
            </a:r>
          </a:p>
          <a:p>
            <a:pPr lvl="0"/>
            <a:r>
              <a:rPr/>
              <a:t>no, I would not base that on </a:t>
            </a:r>
            <a:r>
              <a:rPr>
                <a:latin typeface="Courier"/>
              </a:rPr>
              <a:t>strict full coverage only</a:t>
            </a:r>
          </a:p>
          <a:p>
            <a:pPr lvl="0"/>
            <a:r>
              <a:rPr/>
              <a:t>the proposed shortlist is the strongest current compromise between:</a:t>
            </a:r>
          </a:p>
          <a:p>
            <a:pPr lvl="1"/>
            <a:r>
              <a:rPr/>
              <a:t>nationwide availability</a:t>
            </a:r>
          </a:p>
          <a:p>
            <a:pPr lvl="1"/>
            <a:r>
              <a:rPr/>
              <a:t>AGS-level coverage</a:t>
            </a:r>
          </a:p>
          <a:p>
            <a:pPr lvl="1"/>
            <a:r>
              <a:rPr/>
              <a:t>substantive vulnerability relevance</a:t>
            </a:r>
          </a:p>
          <a:p>
            <a:pPr lvl="0"/>
            <a:r>
              <a:rPr/>
              <a:t>the stronger scaling bottleneck is not INKAR itself, but the national consistency of hazard and protection data</a:t>
            </a:r>
          </a:p>
          <a:p>
            <a:pPr lvl="0" indent="0" marL="0">
              <a:buNone/>
            </a:pPr>
            <a:r>
              <a:rPr/>
              <a:t>One caveat that should remain visible:</a:t>
            </a:r>
          </a:p>
          <a:p>
            <a:pPr lvl="0"/>
            <a:r>
              <a:rPr>
                <a:latin typeface="Courier"/>
              </a:rPr>
              <a:t>a_BG1P = single-person benefit units</a:t>
            </a:r>
            <a:r>
              <a:rPr/>
              <a:t> (official INKAR category)</a:t>
            </a:r>
          </a:p>
          <a:p>
            <a:pPr lvl="0"/>
            <a:r>
              <a:rPr/>
              <a:t>this does not match the current project label </a:t>
            </a:r>
            <a:r>
              <a:rPr>
                <a:latin typeface="Courier"/>
              </a:rPr>
              <a:t>share_bg_single_parent</a:t>
            </a:r>
          </a:p>
          <a:p>
            <a:pPr lvl="0"/>
            <a:r>
              <a:rPr/>
              <a:t>I would not use that variable in a national shortlist unless the naming and interpretation are cleaned up first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2026-03-11T15:46:11Z</dcterms:created>
  <dcterms:modified xsi:type="dcterms:W3CDTF">2026-03-11T15:46:11Z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